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7" r:id="rId6"/>
    <p:sldId id="305" r:id="rId7"/>
    <p:sldId id="304" r:id="rId8"/>
    <p:sldId id="306" r:id="rId9"/>
    <p:sldId id="307" r:id="rId10"/>
    <p:sldId id="308" r:id="rId11"/>
    <p:sldId id="319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20" r:id="rId20"/>
    <p:sldId id="316" r:id="rId21"/>
    <p:sldId id="317" r:id="rId22"/>
    <p:sldId id="318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6412" autoAdjust="0"/>
  </p:normalViewPr>
  <p:slideViewPr>
    <p:cSldViewPr snapToGrid="0">
      <p:cViewPr varScale="1">
        <p:scale>
          <a:sx n="103" d="100"/>
          <a:sy n="103" d="100"/>
        </p:scale>
        <p:origin x="88" y="260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68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45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133AF-7D92-3626-53C9-C707B458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FA222-50A4-9A6D-0600-810C54585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91A54-FC89-3599-BD59-B545D41BF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4F09A-1CEB-7496-342C-508C25423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770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90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266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36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93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404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201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83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2297-873E-B7ED-3FAB-BF8760D0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BA6E9-7168-B702-EA60-64AFE360B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FDABB-1BEE-1ADC-E646-0BAB48A3C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E8A3-8B6A-DCA9-13F1-6EA797AD8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86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5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144" y="1187377"/>
            <a:ext cx="10887911" cy="1122202"/>
          </a:xfrm>
        </p:spPr>
        <p:txBody>
          <a:bodyPr/>
          <a:lstStyle/>
          <a:p>
            <a:pPr algn="r"/>
            <a:r>
              <a:rPr lang="en-US" dirty="0"/>
              <a:t>ANLC-754</a:t>
            </a:r>
            <a:br>
              <a:rPr lang="en-US" dirty="0"/>
            </a:br>
            <a:r>
              <a:rPr lang="en-US" dirty="0"/>
              <a:t>Final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0285" y="5666559"/>
            <a:ext cx="4941770" cy="39666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sz="2400" dirty="0"/>
              <a:t>Student Name: Tu Tran </a:t>
            </a:r>
            <a:r>
              <a:rPr lang="en-US" sz="2400" dirty="0" err="1"/>
              <a:t>Tran</a:t>
            </a: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29F76A-1EB0-6194-170F-F24DAEB8B675}"/>
              </a:ext>
            </a:extLst>
          </p:cNvPr>
          <p:cNvSpPr txBox="1">
            <a:spLocks/>
          </p:cNvSpPr>
          <p:nvPr/>
        </p:nvSpPr>
        <p:spPr>
          <a:xfrm>
            <a:off x="652044" y="3429000"/>
            <a:ext cx="10887911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AE7CDC-6585-BCBB-BB16-0B980D6F8AD3}"/>
              </a:ext>
            </a:extLst>
          </p:cNvPr>
          <p:cNvSpPr txBox="1">
            <a:spLocks/>
          </p:cNvSpPr>
          <p:nvPr/>
        </p:nvSpPr>
        <p:spPr>
          <a:xfrm>
            <a:off x="944144" y="2785037"/>
            <a:ext cx="10887911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400" b="1" dirty="0"/>
              <a:t>NYC Project Management Workforce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56E3EE0-24CB-23C8-0364-554A2B970684}"/>
              </a:ext>
            </a:extLst>
          </p:cNvPr>
          <p:cNvSpPr txBox="1">
            <a:spLocks/>
          </p:cNvSpPr>
          <p:nvPr/>
        </p:nvSpPr>
        <p:spPr>
          <a:xfrm>
            <a:off x="944144" y="3831729"/>
            <a:ext cx="10887911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dirty="0"/>
              <a:t>Education, Compensation &amp; Talent Shortages in Public </a:t>
            </a:r>
            <a:r>
              <a:rPr lang="en-US" sz="3200"/>
              <a:t>Sector of </a:t>
            </a:r>
            <a:r>
              <a:rPr lang="en-US" sz="3200" dirty="0"/>
              <a:t>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80923"/>
            <a:ext cx="8134537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1. Business understanding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" y="1155700"/>
            <a:ext cx="12109296" cy="4825999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The research includes three sub-questions as below:</a:t>
            </a:r>
          </a:p>
          <a:p>
            <a:r>
              <a:rPr lang="en-US" sz="2000" dirty="0"/>
              <a:t>1. Does education level correlate with salary in NYC PM roles?</a:t>
            </a:r>
          </a:p>
          <a:p>
            <a:r>
              <a:rPr lang="en-US" sz="2000" dirty="0"/>
              <a:t>    Business purpose of the question: to understand the quantity ROI of education.</a:t>
            </a:r>
          </a:p>
          <a:p>
            <a:r>
              <a:rPr lang="en-US" sz="2000" dirty="0"/>
              <a:t>2. Which education level is demanded most in PM job postings?</a:t>
            </a:r>
          </a:p>
          <a:p>
            <a:r>
              <a:rPr lang="en-US" sz="2000" dirty="0"/>
              <a:t>    Business purpose of the question: to align the academic supply with the employer’s demand.</a:t>
            </a:r>
          </a:p>
          <a:p>
            <a:r>
              <a:rPr lang="en-US" sz="2000" dirty="0"/>
              <a:t>3. Which PM job titles are having the demand larger than the supply?</a:t>
            </a:r>
          </a:p>
          <a:p>
            <a:r>
              <a:rPr lang="en-US" sz="2000" dirty="0"/>
              <a:t>    Business purpose of the question: to identify the priority shortages for hiring and upskilling.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5BA0CF-F2E6-E358-1C00-CAE2288F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2391D-E561-F6A1-3318-04DFBDCF07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80923"/>
            <a:ext cx="8134537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2. Data understanding</a:t>
            </a:r>
            <a:br>
              <a:rPr lang="en-US" b="1" dirty="0"/>
            </a:br>
            <a:r>
              <a:rPr lang="en-US" b="1" dirty="0"/>
              <a:t>2.1. Data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C8617-FDB8-959D-97AE-4D9D0B99D6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" y="1181100"/>
            <a:ext cx="12109296" cy="5250591"/>
          </a:xfrm>
        </p:spPr>
        <p:txBody>
          <a:bodyPr anchor="ctr">
            <a:normAutofit lnSpcReduction="10000"/>
          </a:bodyPr>
          <a:lstStyle/>
          <a:p>
            <a:r>
              <a:rPr lang="en-US" sz="1600" b="1" dirty="0"/>
              <a:t>1. Citywide Payroll Data (Fiscal Year) of 2024 &amp; 2025 (over 1million observations)</a:t>
            </a:r>
          </a:p>
          <a:p>
            <a:r>
              <a:rPr lang="en-US" sz="1600" b="1" dirty="0"/>
              <a:t>(https://data.cityofnewyork.us/City-Government/Citywide-Payroll-Data-Fiscal-Year-/k397-673e)</a:t>
            </a:r>
          </a:p>
          <a:p>
            <a:pPr marL="342900" indent="-342900">
              <a:buFontTx/>
              <a:buChar char="-"/>
            </a:pPr>
            <a:r>
              <a:rPr lang="en-US" sz="1600" dirty="0"/>
              <a:t>This data can be used to analyze how the City's financial resources are allocated and how much of the City's budget is being devoted to overtime.</a:t>
            </a:r>
          </a:p>
          <a:p>
            <a:pPr marL="342900" indent="-342900">
              <a:buFontTx/>
              <a:buChar char="-"/>
            </a:pPr>
            <a:r>
              <a:rPr lang="en-US" sz="1600" dirty="0"/>
              <a:t>This data is provided by Financial Information Services Agency (FISA) &amp; Office of Payroll Administration (OPA)	</a:t>
            </a:r>
            <a:r>
              <a:rPr lang="en-US" sz="1600" b="1" dirty="0"/>
              <a:t>		</a:t>
            </a:r>
          </a:p>
          <a:p>
            <a:r>
              <a:rPr lang="en-US" sz="1600" b="1" dirty="0"/>
              <a:t>2. Jobs NYC Postings (approximately 6000 observations)</a:t>
            </a:r>
          </a:p>
          <a:p>
            <a:r>
              <a:rPr lang="en-US" sz="1600" b="1" dirty="0"/>
              <a:t>(https://data.cityofnewyork.us/City-Government/Jobs-NYC-Postings/kpav-sd4t)	</a:t>
            </a:r>
          </a:p>
          <a:p>
            <a:r>
              <a:rPr lang="en-US" sz="1600" dirty="0"/>
              <a:t>- This dataset contains current job postings available on the City of New York’s official jobs site (http://www.nyc.gov/html/careers/html/search/search.shtml). Internal postings available to city employees and external postings available to the general public are included.			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This dataset can be used to view current and historical job postings available with the City of New York and to analyze City hiring trends.</a:t>
            </a:r>
          </a:p>
          <a:p>
            <a:r>
              <a:rPr lang="en-US" sz="1600" b="1" dirty="0"/>
              <a:t>3. PM_REGEX </a:t>
            </a:r>
            <a:r>
              <a:rPr lang="en-US" sz="1600" dirty="0"/>
              <a:t>&lt;- "\\b(project|program|pmo|scrum|agile|admin|coordinator|manager)\\b" </a:t>
            </a:r>
          </a:p>
          <a:p>
            <a:r>
              <a:rPr lang="en-US" sz="1600" dirty="0"/>
              <a:t>- This is a value used to </a:t>
            </a:r>
            <a:r>
              <a:rPr lang="en-US" sz="1600" b="1" dirty="0"/>
              <a:t>identify and keep only Project-Management–related job titles</a:t>
            </a:r>
            <a:r>
              <a:rPr lang="en-US" sz="1600" dirty="0"/>
              <a:t> in both the payroll data and the job-postings data, in order to help filter for upcoming phases.</a:t>
            </a:r>
            <a:endParaRPr lang="en-US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8B215-C77E-7EFD-50C4-09EC02A9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1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CC37CD-1A5B-CD18-66A4-0A0D24BF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2933-CC7C-8C65-D68B-49E76251F6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8134537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2. Data understanding</a:t>
            </a:r>
            <a:br>
              <a:rPr lang="en-US" b="1" dirty="0"/>
            </a:br>
            <a:r>
              <a:rPr lang="en-US" b="1" dirty="0"/>
              <a:t>2.2. data SELECTION &amp; DATA ethics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AAB7C-814C-BE05-C1EA-33303A59C2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" y="1371168"/>
            <a:ext cx="12109296" cy="4889073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1. Fiscal Year Payroll Data (2024 + 2025)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2023 was not selected because the labor marker was recovering from COVID -&gt; create noise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Combining 2024 and 2025 fiscal years will produce a more stable labor market signal and avoid over-interpreting short-term volatility in postings volume or certification language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Personal information will be removed from this research because they do not have analysis value, as well as to follow data ethics rules (de-identification).</a:t>
            </a:r>
            <a:r>
              <a:rPr lang="en-US" sz="1800" b="1" dirty="0"/>
              <a:t>	</a:t>
            </a:r>
          </a:p>
          <a:p>
            <a:r>
              <a:rPr lang="en-US" sz="1800" b="1" dirty="0"/>
              <a:t>2. Jobs NYC Postings</a:t>
            </a:r>
            <a:endParaRPr lang="en-US" sz="1800" dirty="0"/>
          </a:p>
          <a:p>
            <a:r>
              <a:rPr lang="en-US" sz="1800" dirty="0"/>
              <a:t>- The time range for this dataset will be from July 1, 2023 to June 30, 2025 to avoid misalignment and leakage bias.</a:t>
            </a: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5D8F6-DBF4-B33F-CC11-A7722FE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8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5CC786-C44C-FABD-F0F3-54CA85D2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BB62-E2C2-97C5-31F7-EE14DE3391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8134537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3. Data preparation</a:t>
            </a:r>
            <a:br>
              <a:rPr lang="en-US" b="1" dirty="0"/>
            </a:br>
            <a:r>
              <a:rPr lang="en-US" b="1" dirty="0"/>
              <a:t>3.1. Fiscal Year (2024 + 2025)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591BB-1715-C706-D70B-2989CC57D5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" y="1542618"/>
            <a:ext cx="12109296" cy="48890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Standardized job titles → convert to Title Case + remove extra spaces.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Converted salary text to numeric using </a:t>
            </a:r>
            <a:r>
              <a:rPr lang="en-US" altLang="en-US" sz="1800" dirty="0" err="1"/>
              <a:t>parse_number</a:t>
            </a:r>
            <a:r>
              <a:rPr lang="en-US" altLang="en-US" sz="1800" dirty="0"/>
              <a:t>() (handles $, commas).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Cleaned pay basis → normalize variations (“per Annum”, “Annual”, “daily”, “hourly”).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Annualized salary:</a:t>
            </a:r>
          </a:p>
          <a:p>
            <a:r>
              <a:rPr lang="en-US" altLang="en-US" sz="1800" dirty="0"/>
              <a:t>	Per annum → keep value</a:t>
            </a:r>
          </a:p>
          <a:p>
            <a:r>
              <a:rPr lang="en-US" altLang="en-US" sz="1800" dirty="0"/>
              <a:t>	Per day → × 260</a:t>
            </a:r>
          </a:p>
          <a:p>
            <a:r>
              <a:rPr lang="en-US" altLang="en-US" sz="1800" dirty="0"/>
              <a:t>	Per hour → × 2080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Filtered invalid salaries (non-numeric or ≤ 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Kept only PM-related titles using PM_REGEX.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Final sample reduced from 1.1M → ~31K PM-aligned employee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AA8FA-416A-78AC-3777-D69652E2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9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4F6692-66D3-CEA7-1A2B-E6D35CA1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66EFD-805D-1421-B8C4-8041BB32E5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248509"/>
            <a:ext cx="8134537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3. Data preparation</a:t>
            </a:r>
            <a:br>
              <a:rPr lang="en-US" b="1" dirty="0"/>
            </a:br>
            <a:r>
              <a:rPr lang="en-US" b="1" dirty="0"/>
              <a:t>3.2. NYC Job Postings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0ECCE-9994-7C1A-2A30-84B605CF4C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" y="1542618"/>
            <a:ext cx="12109296" cy="4889073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Converted posting dates into proper Date format using </a:t>
            </a:r>
            <a:r>
              <a:rPr lang="en-US" sz="2000" dirty="0" err="1"/>
              <a:t>mdy</a:t>
            </a:r>
            <a:r>
              <a:rPr lang="en-US" sz="2000" dirty="0"/>
              <a:t>().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Filtered postings to match FY window: July 1, 2023 → June 30,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Standardized titles → pick business title if available, otherwise civil service title.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Combined all text fields into one </a:t>
            </a:r>
            <a:r>
              <a:rPr lang="en-US" sz="2000" dirty="0" err="1"/>
              <a:t>text_all</a:t>
            </a:r>
            <a:r>
              <a:rPr lang="en-US" sz="2000" dirty="0"/>
              <a:t> for education/skills extraction.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Filtered to PM-related roles using PM_REGEX.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Mapped education requirements to 5 categories: Associate, Bachelor’s, Master’s, PhD, 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Flagged certifications: </a:t>
            </a:r>
            <a:r>
              <a:rPr lang="en-US" sz="2000" dirty="0" err="1"/>
              <a:t>req_pmp</a:t>
            </a:r>
            <a:r>
              <a:rPr lang="en-US" sz="2000" dirty="0"/>
              <a:t>, </a:t>
            </a:r>
            <a:r>
              <a:rPr lang="en-US" sz="2000" dirty="0" err="1"/>
              <a:t>req_scrum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Annualized salary ranges (hourly × 2080; daily × 260).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Calculated midpoint salary for analysis (</a:t>
            </a:r>
            <a:r>
              <a:rPr lang="en-US" sz="2000" dirty="0" err="1"/>
              <a:t>annual_salary_mid</a:t>
            </a:r>
            <a:r>
              <a:rPr lang="en-US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Final sample reduced from 5804 → 784 PM-related job postings.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CECB-5C6B-0AAD-55C9-DE6FF7EC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5C5819-1D9D-176B-B707-75C24D43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FB0D-FB77-7942-42C8-2CA849C3E0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8134537" cy="1325563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4.1. Education and Salary</a:t>
            </a:r>
            <a:br>
              <a:rPr lang="en-US" b="1" dirty="0"/>
            </a:br>
            <a:r>
              <a:rPr lang="en-US" b="1" dirty="0"/>
              <a:t>4.1.1. Prepare Education-Salary Dataset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043B2-5D9F-D797-A420-7561AE2829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5" y="1542619"/>
            <a:ext cx="5289396" cy="4400982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row = one NYC PM job posting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Variables: standardized title, required degree, numeric education level, annual salary midpoint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filtered to PM-related roles and positive salary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the base dataset for all education–salary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50E2D-6F77-524C-3727-84262E63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E6ED1-85C3-3AE1-2EFB-4A7A111C0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867" y="2012972"/>
            <a:ext cx="6527928" cy="32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34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EA80C5-1E56-4983-A8A8-551A86EFB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FEC51-A510-E99E-B604-2C2361FD7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8134537" cy="1325563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4.1. Education and Salary</a:t>
            </a:r>
            <a:br>
              <a:rPr lang="en-US" b="1" dirty="0"/>
            </a:br>
            <a:r>
              <a:rPr lang="en-US" b="1" dirty="0"/>
              <a:t>4.1.2. LINEAR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66458-9A64-C855-D76D-A04918CBBC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5" y="1542619"/>
            <a:ext cx="5551976" cy="4400982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Model: </a:t>
            </a:r>
            <a:r>
              <a:rPr lang="en-US" sz="2000" dirty="0" err="1"/>
              <a:t>annual_salary_mid</a:t>
            </a:r>
            <a:r>
              <a:rPr lang="en-US" sz="2000" dirty="0"/>
              <a:t> ~ </a:t>
            </a:r>
            <a:r>
              <a:rPr lang="en-US" sz="2000" dirty="0" err="1"/>
              <a:t>edu_num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Intercept ≈ $66,000 (baseline at Associate level)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education step adds ≈ $8,500 to salary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R² ≈ 0.16 – education explains ~16% of salary variation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Overall F-test p &lt; 0.001 → model is statistically significant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7E8CD-3962-40D9-E762-CE460068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95D05-69D8-7223-A2FF-7304856C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262" y="1857244"/>
            <a:ext cx="6482537" cy="386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5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94D278-5715-7032-C5D0-A09C81A6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AB10-C189-347E-8113-67CEE65E654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9513345" cy="1325563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4.1. Education and Salary</a:t>
            </a:r>
            <a:br>
              <a:rPr lang="en-US" b="1" dirty="0"/>
            </a:br>
            <a:r>
              <a:rPr lang="en-US" b="1" dirty="0"/>
              <a:t>4.1.3. ANOVA and </a:t>
            </a:r>
            <a:r>
              <a:rPr lang="en-US" b="1" dirty="0" err="1"/>
              <a:t>tukey</a:t>
            </a:r>
            <a:r>
              <a:rPr lang="en-US" b="1" dirty="0"/>
              <a:t> </a:t>
            </a:r>
            <a:r>
              <a:rPr lang="en-US" b="1" dirty="0" err="1"/>
              <a:t>hsd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17F4D-BE87-B933-CFB1-28A3E60235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5" y="1542619"/>
            <a:ext cx="5289396" cy="4400982"/>
          </a:xfrm>
        </p:spPr>
        <p:txBody>
          <a:bodyPr anchor="ctr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ANOVA F ≈ 42.3, p &lt; 0.001 → mean salaries differ by education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Master’s and PhD postings pay significantly more than Associate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PhD postings also pay significantly more than Bachelor’s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Bachelor’s vs Associate and PhD vs Master’s are borderline / not clearly significant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Confirms salary stratification across education 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A6D59-2E2A-C1D1-EA14-3DFEB9465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anchor="ctr"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7AC62-BFA9-262A-9027-811F67952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305" y="2184401"/>
            <a:ext cx="7117557" cy="28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86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F7C55B-42EC-ADB2-1378-B8D46AA0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6743F-491C-BEB2-C0D0-5F740DBF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978CA-69A4-ABC8-2374-16A2CF6F73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03204" y="2233786"/>
            <a:ext cx="5202878" cy="3141403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Violin shapes shift upward from Associate → PhD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Medians and means (red diamonds) increase with education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Master’s &amp; PhD salaries show higher upper ranges and more variability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Visual confirmation of the positive education–salary relationship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E9534F-6332-0EED-B670-20924D1BBA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112515" cy="1325563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4.1. Education and Salary</a:t>
            </a:r>
            <a:br>
              <a:rPr lang="en-US" b="1" dirty="0"/>
            </a:br>
            <a:r>
              <a:rPr lang="en-US" b="1" dirty="0"/>
              <a:t>4.1.4. Violin + Boxplot: Salary Distribution by Education</a:t>
            </a:r>
            <a:endParaRPr lang="en-US" dirty="0"/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BE239546-2AF3-7FBA-10C1-4AE6863F9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364" y="1751872"/>
            <a:ext cx="6858636" cy="411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82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A38048-8B54-6368-A62A-4A9B051D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7BF8-8877-5071-E3BB-4271B560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A6757-45FA-86D4-4D43-057AD15E39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03202" y="2736056"/>
            <a:ext cx="6248397" cy="249872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Total PM postings in sample: </a:t>
            </a:r>
            <a:r>
              <a:rPr lang="en-US" sz="2400" b="1" dirty="0"/>
              <a:t>784</a:t>
            </a:r>
            <a:endParaRPr lang="en-US" sz="2400" dirty="0"/>
          </a:p>
          <a:p>
            <a:r>
              <a:rPr lang="en-US" sz="2400" dirty="0"/>
              <a:t>Master’s degree: </a:t>
            </a:r>
            <a:r>
              <a:rPr lang="en-US" sz="2400" b="1" dirty="0"/>
              <a:t>354 postings (45.2%)</a:t>
            </a:r>
            <a:endParaRPr lang="en-US" sz="2400" dirty="0"/>
          </a:p>
          <a:p>
            <a:r>
              <a:rPr lang="en-US" sz="2400" dirty="0"/>
              <a:t>Associate degree: </a:t>
            </a:r>
            <a:r>
              <a:rPr lang="en-US" sz="2400" b="1" dirty="0"/>
              <a:t>195 postings (24.9%)</a:t>
            </a:r>
            <a:endParaRPr lang="en-US" sz="2400" dirty="0"/>
          </a:p>
          <a:p>
            <a:r>
              <a:rPr lang="en-US" sz="2400" dirty="0"/>
              <a:t>“Other” (non-standard / flexible requirements): </a:t>
            </a:r>
            <a:r>
              <a:rPr lang="en-US" sz="2400" b="1" dirty="0"/>
              <a:t>139 postings (17.7%)</a:t>
            </a:r>
            <a:endParaRPr lang="en-US" sz="2400" dirty="0"/>
          </a:p>
          <a:p>
            <a:r>
              <a:rPr lang="en-US" sz="2400" dirty="0"/>
              <a:t>PhD: </a:t>
            </a:r>
            <a:r>
              <a:rPr lang="en-US" sz="2400" b="1" dirty="0"/>
              <a:t>56 (7.1%)</a:t>
            </a:r>
            <a:r>
              <a:rPr lang="en-US" sz="2400" dirty="0"/>
              <a:t>, Bachelor’s: </a:t>
            </a:r>
            <a:r>
              <a:rPr lang="en-US" sz="2400" b="1" dirty="0"/>
              <a:t>40 (5.1%)</a:t>
            </a:r>
            <a:r>
              <a:rPr lang="en-US" sz="2400" dirty="0"/>
              <a:t> – both minority segments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95C04A-F018-F1C4-17F7-2013DB8D64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837445" cy="1325563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4.2. Education Demand</a:t>
            </a:r>
            <a:br>
              <a:rPr lang="en-US" dirty="0"/>
            </a:br>
            <a:r>
              <a:rPr lang="en-US" b="1" dirty="0"/>
              <a:t>4.2.1. Count and Proportion of Postings by Education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2D1E4-8A02-00FA-35ED-BDBF9E298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939" y="2736056"/>
            <a:ext cx="5630061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93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E1D09C-7B1A-E1C2-ABE5-E487499E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DA911-C853-911F-C739-980851B5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D41D2-B06E-86F3-EBF0-AF3F55055A3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4555" y="3293484"/>
            <a:ext cx="10325098" cy="195196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Total PM postings: 784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PMP mentioned in 10 postings (~1.28%)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Scrum mentioned in 2 postings (~0.26%)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Certification requirements are rare compared with degree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NYC public PM market is degree-centric, not certification-centric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15F2ED-9061-3CB0-F715-D4D11514790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4.2. Education Demand</a:t>
            </a:r>
            <a:br>
              <a:rPr lang="en-US" dirty="0"/>
            </a:br>
            <a:r>
              <a:rPr lang="en-US" b="1" dirty="0"/>
              <a:t>4.2.2. PMP and Scrum Certification Demand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FBE32-2B38-71CD-A7B5-94E8E5310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95" y="1751872"/>
            <a:ext cx="8899963" cy="127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84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C2FC8B-E200-64E6-219A-005A13DB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5F447-95BC-4EE8-C207-21C13A27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BE8BB-57C0-7AB2-5C89-10D810B781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04802" y="2530078"/>
            <a:ext cx="5537198" cy="339804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Master’s degree bar towers over all others (45.2% of postings)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Associate degree is the second-largest segment (24.9%)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“Other” (experience-based or flexible) makes up ~17.7%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PhD and Bachelor’s together account for only ~12% of postings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Confirms strong employer preference for graduate-level education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F2D583-EB68-21D5-D97A-30B49F1F6B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4.2. Education Demand</a:t>
            </a:r>
            <a:br>
              <a:rPr lang="en-US" dirty="0"/>
            </a:br>
            <a:r>
              <a:rPr lang="en-US" b="1" dirty="0"/>
              <a:t>4.2.3. Visualization: Education Demand Bar Chart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C1FA928-6B16-94AD-265C-49AEA2F03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0" y="2324100"/>
            <a:ext cx="635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195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AB70D5-48E3-06CB-CE5E-57814893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896FA-C386-7E8D-827D-DD70D3A8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4FC5B-200E-B3EF-3646-7FA798FE11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03203" y="1992708"/>
            <a:ext cx="5537198" cy="3985419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PMP requirement is only 1.28% (10 out of 784 postings)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Scrum certification requirement is 0.26% (2 out of 784 postings)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NYC public agencies rarely require certifications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Hiring focus = education + experience, not PMP/Scrum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Practical implication: Candidates with Master’s degrees have a stronger advantage than certified candidates.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FAF515-1043-577E-283D-FDF18DE059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4.2. Education Demand</a:t>
            </a:r>
            <a:br>
              <a:rPr lang="en-US" dirty="0"/>
            </a:br>
            <a:r>
              <a:rPr lang="en-US" b="1" dirty="0"/>
              <a:t>4.2.4. Visualization: Certification Demand</a:t>
            </a: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5C70EC6-9E87-B485-B9EB-962A1521E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717" y="2118518"/>
            <a:ext cx="597408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327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8E2AAF-390A-836E-D3D6-22D1F6682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C5CDC-9D37-503B-7DBA-2719138A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3EF9F-6EE3-7BD0-2781-BC9BEF2645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5260" y="2105443"/>
            <a:ext cx="5740401" cy="43636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Titles with 0 employees but active postings → Competitiveness Index = ∞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Indicates new roles, expansion needs, or structural workforce gaps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Represents highest hiring urgency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Key examples: Accountable Manager, Assistant Project Manager, Administrative Coordinator, </a:t>
            </a:r>
            <a:r>
              <a:rPr lang="en-US" sz="2400" dirty="0" err="1"/>
              <a:t>etc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Recommends urgent recruitment or re-alignment of job title structures.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564615-3675-E3B1-BCBD-6B4F93E3E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4.3. Job Market Competitiveness</a:t>
            </a:r>
            <a:br>
              <a:rPr lang="en-US" dirty="0"/>
            </a:br>
            <a:r>
              <a:rPr lang="en-US" b="1" dirty="0"/>
              <a:t>4.3.1. Aggregate Employee and Posting Counts by Title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4AC8A1-4E41-1978-BD14-AA6CA889E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402" y="1882807"/>
            <a:ext cx="6218395" cy="415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5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5C87A2-B0EC-6115-12DB-2B798A8E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1AE1A-D90B-707D-226C-1CE24496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DA1AF-670C-CEFE-6C8C-8B79548315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03203" y="1992708"/>
            <a:ext cx="5537198" cy="461501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Log-log scatter shows supply (employees) vs demand (postings)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Red dashed line = balance (1 posting per employee)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Points above the line → shortage, below the line → surplus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Highest shortage: Program Coordinator (CI ≈ 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Other strained roles: Project Director, Project Coordinator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Roles with many employees but few postings → stable staffing (e.g., Community Coordinator).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E3E8035-309C-9491-6012-DA3951802A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4.3. Job Market Competitiveness</a:t>
            </a:r>
            <a:br>
              <a:rPr lang="en-US" dirty="0"/>
            </a:br>
            <a:r>
              <a:rPr lang="en-US" b="1" dirty="0"/>
              <a:t>4.3.2. Visualization: Scatter Plot (Employees vs Postings)</a:t>
            </a:r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DF1AF49-28BE-3C55-90EB-7AEC7EB02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2" y="1992707"/>
            <a:ext cx="6248396" cy="437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007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CB1BBD-D98E-6A6B-80D0-95B16F9F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45036-BAFE-BC7A-D79E-33D25E14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BBDC8-4AD1-7D23-9477-9A6F590FC5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4001" y="4888308"/>
            <a:ext cx="11683997" cy="461501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Competitiveness Index = Postings ÷ Employees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Highest CI: Program Coordinator (5.0)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Strong shortages: Project Director (2.0), Project Coordinator (0.146), Project Manager (0.138)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Titles with very large employee bases but few postings → well-staffed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Identifies priority areas for recruitment &amp; training investment.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DFE49B9-9C2B-3BA5-2EB3-7AD233BE99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426309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4. Modeling</a:t>
            </a:r>
            <a:br>
              <a:rPr lang="en-US" dirty="0"/>
            </a:br>
            <a:r>
              <a:rPr lang="en-US" b="1" dirty="0"/>
              <a:t>4.3. Job Market Competitiveness</a:t>
            </a:r>
            <a:br>
              <a:rPr lang="en-US" dirty="0"/>
            </a:br>
            <a:r>
              <a:rPr lang="en-US" b="1" dirty="0"/>
              <a:t>4.3.3. Visualization: Top 20 Competitiveness Index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82EAC-C740-592B-53E3-C21C0AC0C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644" y="1756741"/>
            <a:ext cx="7142710" cy="292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46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3B196-0384-96B1-E212-0102DFBB7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ADDC7-FFB0-35DD-CF12-0F429EFD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D89C5-B303-95FB-0987-44362D205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4001" y="1143686"/>
            <a:ext cx="11683997" cy="503469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a. Higher education reliably predicts higher salaries</a:t>
            </a:r>
          </a:p>
          <a:p>
            <a:r>
              <a:rPr lang="en-US" dirty="0"/>
              <a:t>Salary increases monotonically from Associate → Bachelor’s → Master’s → PhD.</a:t>
            </a:r>
          </a:p>
          <a:p>
            <a:r>
              <a:rPr lang="en-US" dirty="0"/>
              <a:t>Correlation (Spearman ρ ≈ 0.44, p &lt; 0.001) and regression both confirm education level is a significant predictor of salary.</a:t>
            </a:r>
          </a:p>
          <a:p>
            <a:pPr marL="0" indent="0">
              <a:buNone/>
            </a:pPr>
            <a:r>
              <a:rPr lang="en-US" b="1" dirty="0"/>
              <a:t>b. Master’s degree is the dominant requirement in job postings</a:t>
            </a:r>
          </a:p>
          <a:p>
            <a:r>
              <a:rPr lang="en-US" dirty="0"/>
              <a:t>45% of PM postings require a Master’s.</a:t>
            </a:r>
          </a:p>
          <a:p>
            <a:r>
              <a:rPr lang="en-US" dirty="0"/>
              <a:t>Associate (25%) and Other (18%) follow.</a:t>
            </a:r>
          </a:p>
          <a:p>
            <a:r>
              <a:rPr lang="en-US" dirty="0"/>
              <a:t>Bachelor’s is very rarely required (5%).</a:t>
            </a:r>
          </a:p>
          <a:p>
            <a:r>
              <a:rPr lang="en-US" dirty="0"/>
              <a:t>NYC PM jobs strongly prefer graduate-level education.</a:t>
            </a:r>
          </a:p>
          <a:p>
            <a:pPr marL="0" indent="0">
              <a:buNone/>
            </a:pPr>
            <a:r>
              <a:rPr lang="en-US" b="1" dirty="0"/>
              <a:t>c. Certifications (PMP/Scrum) matter very little</a:t>
            </a:r>
          </a:p>
          <a:p>
            <a:r>
              <a:rPr lang="en-US" dirty="0"/>
              <a:t>Only 1.28% require PMP.</a:t>
            </a:r>
          </a:p>
          <a:p>
            <a:r>
              <a:rPr lang="en-US" dirty="0"/>
              <a:t>Only 0.26% require Scrum.</a:t>
            </a:r>
          </a:p>
          <a:p>
            <a:r>
              <a:rPr lang="en-US" dirty="0"/>
              <a:t>NYC public sector is degree-driven, not certification-driven.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B304CA7-FB9B-470E-9E41-FE8AE51A4D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-55605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5. 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08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2579E6-3BF9-36AD-F3D0-F36C5A4D0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86F4C-C2E9-B158-EA23-B82C7AE6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121C3-FDDA-7919-D907-9BF6102906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4001" y="1397000"/>
            <a:ext cx="11683997" cy="5034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d. Several PM roles show talent shortages</a:t>
            </a:r>
          </a:p>
          <a:p>
            <a:r>
              <a:rPr lang="en-US" sz="2400" dirty="0"/>
              <a:t>Program Coordinator (CI = 5) has the highest shortage.</a:t>
            </a:r>
          </a:p>
          <a:p>
            <a:r>
              <a:rPr lang="en-US" sz="2400" dirty="0"/>
              <a:t>Other strained titles: Project Director, Project Coordinator, Project Manager.</a:t>
            </a:r>
          </a:p>
          <a:p>
            <a:r>
              <a:rPr lang="en-US" sz="2400" dirty="0"/>
              <a:t>Some titles even have 0 employees but multiple postings, indicating new or unstaffed roles.</a:t>
            </a:r>
          </a:p>
          <a:p>
            <a:pPr marL="0" indent="0">
              <a:buNone/>
            </a:pPr>
            <a:r>
              <a:rPr lang="en-US" sz="2400" b="1" dirty="0"/>
              <a:t> e. Implications for workforce strategy</a:t>
            </a:r>
          </a:p>
          <a:p>
            <a:r>
              <a:rPr lang="en-US" sz="2400" dirty="0"/>
              <a:t>NYC agencies should strengthen graduate-level pipelines, especially Master’s programs.</a:t>
            </a:r>
          </a:p>
          <a:p>
            <a:r>
              <a:rPr lang="en-US" sz="2400" dirty="0"/>
              <a:t>Enhance recruitment for top-shortage PM roles.</a:t>
            </a:r>
          </a:p>
          <a:p>
            <a:r>
              <a:rPr lang="en-US" sz="2400" dirty="0"/>
              <a:t>Certifications are optional—focus training on academic &amp; experiential pathways.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6F445B-D853-E2E9-6628-A4CB3B3328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5" y="160639"/>
            <a:ext cx="11837445" cy="1325563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5. 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0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936" y="2666632"/>
            <a:ext cx="4179570" cy="1524735"/>
          </a:xfrm>
        </p:spPr>
        <p:txBody>
          <a:bodyPr anchor="ctr"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852</TotalTime>
  <Words>1770</Words>
  <Application>Microsoft Office PowerPoint</Application>
  <PresentationFormat>Widescreen</PresentationFormat>
  <Paragraphs>171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Tenorite</vt:lpstr>
      <vt:lpstr>Monoline</vt:lpstr>
      <vt:lpstr>ANLC-754 Final project presentation</vt:lpstr>
      <vt:lpstr>1. Business understanding</vt:lpstr>
      <vt:lpstr>2. Data understanding 2.1. Data overview</vt:lpstr>
      <vt:lpstr>2. Data understanding 2.2. data SELECTION &amp; DATA ethics</vt:lpstr>
      <vt:lpstr>3. Data preparation 3.1. Fiscal Year (2024 + 2025)</vt:lpstr>
      <vt:lpstr>3. Data preparation 3.2. NYC Job Postings</vt:lpstr>
      <vt:lpstr>4. Modeling 4.1. Education and Salary 4.1.1. Prepare Education-Salary Dataset </vt:lpstr>
      <vt:lpstr>4. Modeling 4.1. Education and Salary 4.1.2. LINEAR REGRESSION </vt:lpstr>
      <vt:lpstr>4. Modeling 4.1. Education and Salary 4.1.3. ANOVA and tukey hsd </vt:lpstr>
      <vt:lpstr>4. Modeling 4.1. Education and Salary 4.1.4. Violin + Boxplot: Salary Distribution by Education</vt:lpstr>
      <vt:lpstr>4. Modeling 4.2. Education Demand 4.2.1. Count and Proportion of Postings by Education Level</vt:lpstr>
      <vt:lpstr>4. Modeling 4.2. Education Demand 4.2.2. PMP and Scrum Certification Demand</vt:lpstr>
      <vt:lpstr>4. Modeling 4.2. Education Demand 4.2.3. Visualization: Education Demand Bar Chart</vt:lpstr>
      <vt:lpstr>4. Modeling 4.2. Education Demand 4.2.4. Visualization: Certification Demand</vt:lpstr>
      <vt:lpstr>4. Modeling 4.3. Job Market Competitiveness 4.3.1. Aggregate Employee and Posting Counts by Title</vt:lpstr>
      <vt:lpstr>4. Modeling 4.3. Job Market Competitiveness 4.3.2. Visualization: Scatter Plot (Employees vs Postings)</vt:lpstr>
      <vt:lpstr>4. Modeling 4.3. Job Market Competitiveness 4.3.3. Visualization: Top 20 Competitiveness Index</vt:lpstr>
      <vt:lpstr>5. CONCLUSION</vt:lpstr>
      <vt:lpstr>5.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 Tran Tran</dc:creator>
  <cp:lastModifiedBy>Tu Tran Tran</cp:lastModifiedBy>
  <cp:revision>18</cp:revision>
  <dcterms:created xsi:type="dcterms:W3CDTF">2025-10-07T23:30:23Z</dcterms:created>
  <dcterms:modified xsi:type="dcterms:W3CDTF">2025-11-20T16:06:51Z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